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Argus: Collective Cyber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Calibri Light"/>
              </a:defRPr>
            </a:pPr>
            <a:r>
              <a:t>Kollektív Kibervédelem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 Light"/>
              </a:defRPr>
            </a:pPr>
            <a:r>
              <a:t>Built in Hungary. Protecting the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Magyarországon épült. A világot védi.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480560"/>
            <a:ext cx="18288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 Light"/>
              </a:defRPr>
            </a:pPr>
            <a:r>
              <a:t>1. Organizations Fight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 Light"/>
              </a:defRPr>
            </a:pPr>
            <a:r>
              <a:t>Same attacks hit thousands sequentially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 Light"/>
              </a:defRPr>
            </a:pPr>
            <a:r>
              <a:t>2. No Early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 Light"/>
              </a:defRPr>
            </a:pPr>
            <a:r>
              <a:t>If org #3 gets hit, orgs #4-200 have no warning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 Light"/>
              </a:defRPr>
            </a:pPr>
            <a:r>
              <a:t>3. Privacy Prevents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 Light"/>
              </a:defRPr>
            </a:pPr>
            <a:r>
              <a:t>Centralized platforms require exposing sensitive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2743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Calibri Light"/>
              </a:defRPr>
            </a:pPr>
            <a:r>
              <a:t>€9.2T Annual Cybercrime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206240"/>
            <a:ext cx="2743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Calibri Light"/>
              </a:defRPr>
            </a:pPr>
            <a:r>
              <a:t>€4.88M Average Breach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206240"/>
            <a:ext cx="2743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Calibri Light"/>
              </a:defRPr>
            </a:pPr>
            <a:r>
              <a:t>Every 19 Seconds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Herd Immunity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200" b="0">
                <a:solidFill>
                  <a:srgbClr val="06B6D4"/>
                </a:solidFill>
                <a:latin typeface="Calibri Light"/>
              </a:defRPr>
            </a:pPr>
            <a:r>
              <a:t>Nyájimmunitás a kiberbiztonságban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 Light"/>
              </a:defRPr>
            </a:pPr>
            <a:r>
              <a:t>When 30% of a sector participates, everyone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 Light"/>
              </a:defRPr>
            </a:pPr>
            <a:r>
              <a:t>Attacks on one organization protect all others within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Calibri Light"/>
              </a:defRPr>
            </a:pPr>
            <a:r>
              <a:t>"Ransomware is a pandemic.</a:t>
            </a:r>
            <a:br/>
            <a:r>
              <a:t>This is the vaccination program."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How Argus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554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 Light"/>
              </a:defRPr>
            </a:pPr>
            <a:r>
              <a:t>1. DETECT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5544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Agent identifies threat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188720"/>
            <a:ext cx="1554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 Light"/>
              </a:defRPr>
            </a:pPr>
            <a:r>
              <a:t>2. ANONYMIZE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54480"/>
            <a:ext cx="15544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Strip all identifying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188720"/>
            <a:ext cx="1554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 Light"/>
              </a:defRPr>
            </a:pPr>
            <a:r>
              <a:t>3.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554480"/>
            <a:ext cx="15544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Send mathematical fingerprint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59" y="1188720"/>
            <a:ext cx="1554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 Light"/>
              </a:defRPr>
            </a:pPr>
            <a:r>
              <a:t>4.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1554480"/>
            <a:ext cx="15544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Network learns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1188720"/>
            <a:ext cx="15544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 Light"/>
              </a:defRPr>
            </a:pPr>
            <a:r>
              <a:t>5. PROTECT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1554480"/>
            <a:ext cx="15544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 Light"/>
              </a:defRPr>
            </a:pPr>
            <a:r>
              <a:t>Rules pushed to 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Your data stays local.</a:t>
            </a:r>
            <a:br/>
            <a:r>
              <a:t>Only mathematical patterns shared.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Three Products, One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  <a:latin typeface="Calibri Light"/>
              </a:defRPr>
            </a:pPr>
            <a:r>
              <a:t>Három termék, egy hálózat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Calibri Light"/>
              </a:defRPr>
            </a:pPr>
            <a: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Free Security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7432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Deploy and protect in 15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45920"/>
            <a:ext cx="2743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Calibri Light"/>
              </a:defRPr>
            </a:pPr>
            <a:r>
              <a:t>IMMUNITY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Live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560320"/>
            <a:ext cx="27432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Watch sectors turn from red to 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2743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Calibri Light"/>
              </a:defRPr>
            </a:pPr>
            <a:r>
              <a:t>THREAT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Researcher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27432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 Light"/>
              </a:defRPr>
            </a:pPr>
            <a:r>
              <a:t>Name threats, earn recognition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Argus Sentinel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Calibri Light"/>
              </a:defRPr>
            </a:pPr>
            <a:r>
              <a:t>Free Security Agent | Ingyenes biztonsági ügynök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Lightweight (~50MB), deploys in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Learns your network baseline with local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Detects anomalies and threat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Shares only anonymized fingerprints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Receives detection rules from collective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 Light"/>
              </a:defRPr>
            </a:pPr>
            <a:r>
              <a:t>"Your first line of defense."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Immunity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Calibri Light"/>
              </a:defRPr>
            </a:pPr>
            <a:r>
              <a:t>Live Dashboard | Élő nyilvános irányítópult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Real-time map of Europe's cyber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Sectors color-coded: Red → Yellow →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30% participation = Herd immunity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Public accountability and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 Light"/>
              </a:defRPr>
            </a:pPr>
            <a:r>
              <a:t>"Watch the immune system strengthen in real-time."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Threat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Calibri Light"/>
              </a:defRPr>
            </a:pPr>
            <a:r>
              <a:t>Researcher Platform | Kutatói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Analyze anonymized attack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Compete on global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Name discoveries ("The Martinez Variant")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Your rules protect thousands instantly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Earn recognition and conference invites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 Light"/>
              </a:defRPr>
            </a:pPr>
            <a:r>
              <a:t>"Fame, glory, and better security for everyone."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Global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  <a:latin typeface="Calibri Light"/>
              </a:defRPr>
            </a:pPr>
            <a:r>
              <a:t>Globális jövőkép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 Light"/>
              </a:defRPr>
            </a:pPr>
            <a:r>
              <a:t>EUROPE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645920"/>
            <a:ext cx="45720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 Light"/>
              </a:defRPr>
            </a:pPr>
            <a:r>
              <a:t>Launch from Budapest, NIS2/DORA tailwinds</a:t>
            </a:r>
            <a:br/>
            <a:r>
              <a:t>5 countries, 200+ orgs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8288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 Light"/>
              </a:defRPr>
            </a:pPr>
            <a:r>
              <a:t>NORTH AMERICA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60320"/>
            <a:ext cx="45720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 Light"/>
              </a:defRPr>
            </a:pPr>
            <a:r>
              <a:t>MSSP partnerships</a:t>
            </a:r>
            <a:br/>
            <a:r>
              <a:t>Healthcare + Finance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8288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Calibri Light"/>
              </a:defRPr>
            </a:pPr>
            <a:r>
              <a:t>ASIA-PACIFIC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474720"/>
            <a:ext cx="45720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 Light"/>
              </a:defRPr>
            </a:pPr>
            <a:r>
              <a:t>Japan, Singapore, Australia</a:t>
            </a:r>
            <a:br/>
            <a:r>
              <a:t>Data sovereignty demand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Why E-Group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  <a:latin typeface="Calibri Light"/>
              </a:defRPr>
            </a:pPr>
            <a:r>
              <a:t>Miért az E-Group?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FedX: Proven federated learning (100K+ records)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MyD Wallet: First eIDAS 2.0 certified in 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IOX: Secure communication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30 Years: Government &amp; healthcare IT expertise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Network: Pécs, Semmelweis, EU consortiums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 Light"/>
              </a:defRPr>
            </a:pPr>
            <a:r>
              <a:t>Hungarian innovation. European infrastructure. Global ambition.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Magyar innováció. Európai infrastruktúra. Globális ambíció.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Pre-Launch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 Light"/>
              </a:defRPr>
            </a:pPr>
            <a:r>
              <a:t>1. Sentinel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097280"/>
            <a:ext cx="4572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Seed 50-100 organizations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 Light"/>
              </a:defRPr>
            </a:pPr>
            <a:r>
              <a:t>2. Threat Lab 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645919"/>
            <a:ext cx="4572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Recruit top researchers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 Light"/>
              </a:defRPr>
            </a:pPr>
            <a:r>
              <a:t>3. Immunity Index 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94560"/>
            <a:ext cx="4572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Create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 Light"/>
              </a:defRPr>
            </a:pPr>
            <a:r>
              <a:t>4. First Save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43200"/>
            <a:ext cx="4572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Document real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Calibri Light"/>
              </a:defRPr>
            </a:pPr>
            <a:r>
              <a:t>Success metrics: 100 Orgs | 3 Sectors |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Köszönöm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Calibri Light"/>
              </a:defRPr>
            </a:pPr>
            <a:r>
              <a:t>Kérdések? |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Technical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926079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Resource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291839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657599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 Light"/>
              </a:defRPr>
            </a:pPr>
            <a:r>
              <a:t>• Partnerships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 Light"/>
              </a:defRPr>
            </a:pPr>
            <a:r>
              <a:t>E-Group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